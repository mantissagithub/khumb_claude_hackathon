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SANGAM means confluence. Two sacred sites, 30 km apart. Today a person lost at one and found at the other can sit uncatalogued for days, because the camps don't cross-search. Mostly elderly, rural, phoneless. That gap is what we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operator console, five modules feeding one operation. Dashboard sees every center at once. Face Search matches a finder's photo to open reports — no Aadhaar, no CCTV. Voice Match takes audio in any language for phoneless pilgrims. Simulation predicts separation surges from 2,500 real cases. Routing fires a multilingual BOLO to police posts. Note the badge: it's running API-offline on mock data — it works when the network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IP is the cross-site match plus verify-before-handover. Kamala-bai, filed at Trimbak, matched to a found elder at Nashik at 0.91 with a plain rationale. Then a claimant arrives whose story almost lines up — Verify catches the mismatch and blocks the handover. Two lines that land: hours-to-a-week became 90 seconds across 30 km, and when the wrong person came to claim her, it said no. The ask: pilot it at one camp at Ramkund.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4750" y="-13335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C2933A">
                  <a:alpha val="20000"/>
                </a:srgbClr>
              </a:gs>
              <a:gs pos="60000">
                <a:srgbClr val="C2933A">
                  <a:alpha val="0"/>
                </a:srgbClr>
              </a:gs>
            </a:gsLst>
            <a:path path="circle">
              <a:fillToRect l="58000" t="42000" r="42000" b="58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990600"/>
            <a:ext cx="590550" cy="590550"/>
          </a:xfrm>
          <a:prstGeom prst="roundRect">
            <a:avLst>
              <a:gd name="adj" fmla="val 24194"/>
            </a:avLst>
          </a:prstGeom>
          <a:solidFill>
            <a:srgbClr val="A23A26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99060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924050" y="1021854"/>
            <a:ext cx="4495175" cy="3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50" b="1" spc="624" kern="0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24050" y="1314004"/>
            <a:ext cx="4495175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spc="63" kern="0" dirty="0">
                <a:solidFill>
                  <a:srgbClr val="F4ECD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Kumbh Mela Ops · Cross-site reunification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736812" y="1147763"/>
            <a:ext cx="2649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F4ECD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Simhastha Kumbh 2027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2863602"/>
            <a:ext cx="14519910" cy="21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spc="-117" kern="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camps already exist. </a:t>
            </a:r>
            <a:pPr algn="l" indent="0" marL="0">
              <a:lnSpc>
                <a:spcPct val="102000"/>
              </a:lnSpc>
              <a:buNone/>
            </a:pPr>
            <a:r>
              <a:rPr lang="en-US" sz="7800" i="1" spc="-117" kern="0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can't search each other.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143000" y="5332065"/>
            <a:ext cx="12557760" cy="155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F4ECDD">
                    <a:alpha val="8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sacred sites, 30 km apart. A pilgrim lost at Trimbakeshwar and found at Nashik can sit uncatalogued for days — because no single help desk sees both ends.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143000" y="8134350"/>
            <a:ext cx="16002000" cy="9525"/>
          </a:xfrm>
          <a:prstGeom prst="rect">
            <a:avLst/>
          </a:prstGeom>
          <a:solidFill>
            <a:srgbClr val="F4ECDD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8486775"/>
            <a:ext cx="51618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km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43000" y="9134475"/>
            <a:ext cx="51618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CD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Ramkund &amp; Kushavarta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311801" y="8486775"/>
            <a:ext cx="9525" cy="962025"/>
          </a:xfrm>
          <a:prstGeom prst="rect">
            <a:avLst/>
          </a:prstGeom>
          <a:solidFill>
            <a:srgbClr val="F4ECDD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97576" y="8486775"/>
            <a:ext cx="51619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200–300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797576" y="9134475"/>
            <a:ext cx="51619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CD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separations a day, at peak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966525" y="8486775"/>
            <a:ext cx="9525" cy="962025"/>
          </a:xfrm>
          <a:prstGeom prst="rect">
            <a:avLst/>
          </a:prstGeom>
          <a:solidFill>
            <a:srgbClr val="F4ECDD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452300" y="8486775"/>
            <a:ext cx="51619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hours–week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452300" y="9134475"/>
            <a:ext cx="51619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CDD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reunite a family today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719427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spc="-45" kern="0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console, five modules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664202" y="942975"/>
            <a:ext cx="63606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2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Kumbh center on one screen, online or off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914400" y="1695450"/>
            <a:ext cx="9389566" cy="6519118"/>
          </a:xfrm>
          <a:prstGeom prst="roundRect">
            <a:avLst>
              <a:gd name="adj" fmla="val 1753"/>
            </a:avLst>
          </a:prstGeom>
          <a:solidFill>
            <a:srgbClr val="FFFFFF"/>
          </a:solidFill>
          <a:ln w="9525">
            <a:solidFill>
              <a:srgbClr val="1A1714">
                <a:alpha val="14000"/>
              </a:srgbClr>
            </a:solidFill>
            <a:prstDash val="solid"/>
          </a:ln>
          <a:effectLst>
            <a:outerShdw sx="100000" sy="100000" kx="0" ky="0" algn="bl" rotWithShape="0" blurRad="476250" dist="209550" dir="5400000">
              <a:srgbClr val="1B203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925" y="1704975"/>
            <a:ext cx="9370516" cy="476250"/>
          </a:xfrm>
          <a:prstGeom prst="rect">
            <a:avLst/>
          </a:prstGeom>
          <a:solidFill>
            <a:srgbClr val="1B2031"/>
          </a:solidFill>
          <a:ln/>
        </p:spPr>
      </p:sp>
      <p:sp>
        <p:nvSpPr>
          <p:cNvPr id="6" name="Shape 4"/>
          <p:cNvSpPr/>
          <p:nvPr/>
        </p:nvSpPr>
        <p:spPr>
          <a:xfrm>
            <a:off x="923925" y="2171700"/>
            <a:ext cx="9370516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5375" y="1881187"/>
            <a:ext cx="114300" cy="114300"/>
          </a:xfrm>
          <a:prstGeom prst="ellipse">
            <a:avLst/>
          </a:prstGeom>
          <a:solidFill>
            <a:srgbClr val="E0644E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1881187"/>
            <a:ext cx="114300" cy="114300"/>
          </a:xfrm>
          <a:prstGeom prst="ellipse">
            <a:avLst/>
          </a:prstGeom>
          <a:solidFill>
            <a:srgbClr val="E0B057"/>
          </a:solidFill>
          <a:ln/>
        </p:spPr>
      </p:sp>
      <p:sp>
        <p:nvSpPr>
          <p:cNvPr id="9" name="Shape 7"/>
          <p:cNvSpPr/>
          <p:nvPr/>
        </p:nvSpPr>
        <p:spPr>
          <a:xfrm>
            <a:off x="1495425" y="1881187"/>
            <a:ext cx="114300" cy="114300"/>
          </a:xfrm>
          <a:prstGeom prst="ellipse">
            <a:avLst/>
          </a:prstGeom>
          <a:solidFill>
            <a:srgbClr val="5FB07A"/>
          </a:solidFill>
          <a:ln/>
        </p:spPr>
      </p:sp>
      <p:sp>
        <p:nvSpPr>
          <p:cNvPr id="10" name="Text 8"/>
          <p:cNvSpPr/>
          <p:nvPr/>
        </p:nvSpPr>
        <p:spPr>
          <a:xfrm>
            <a:off x="1809750" y="1828800"/>
            <a:ext cx="30903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F4ECD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SANGAM — Operations Dashboard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2181225"/>
            <a:ext cx="9370516" cy="60238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8405068"/>
            <a:ext cx="1926134" cy="609600"/>
          </a:xfrm>
          <a:prstGeom prst="roundRect">
            <a:avLst>
              <a:gd name="adj" fmla="val 50000"/>
            </a:avLst>
          </a:prstGeom>
          <a:solidFill>
            <a:srgbClr val="F3E7CF"/>
          </a:solidFill>
          <a:ln w="9525">
            <a:solidFill>
              <a:srgbClr val="C2933A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6800" y="8667006"/>
            <a:ext cx="59085" cy="85725"/>
          </a:xfrm>
          <a:prstGeom prst="roundRect">
            <a:avLst>
              <a:gd name="adj" fmla="val 50000"/>
            </a:avLst>
          </a:prstGeom>
          <a:solidFill>
            <a:srgbClr val="C2933A"/>
          </a:solidFill>
          <a:ln/>
        </p:spPr>
      </p:sp>
      <p:sp>
        <p:nvSpPr>
          <p:cNvPr id="14" name="Text 11"/>
          <p:cNvSpPr/>
          <p:nvPr/>
        </p:nvSpPr>
        <p:spPr>
          <a:xfrm>
            <a:off x="1202085" y="8481268"/>
            <a:ext cx="1187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offline · mock data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2973884" y="8424118"/>
            <a:ext cx="754998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A1714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above is running with the network </a:t>
            </a:r>
            <a:pPr algn="l" indent="0" marL="0">
              <a:buNone/>
            </a:pPr>
            <a:r>
              <a:rPr lang="en-US" sz="172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</a:t>
            </a:r>
            <a:pPr algn="l" indent="0" marL="0">
              <a:buNone/>
            </a:pPr>
            <a:r>
              <a:rPr lang="en-US" sz="1725" dirty="0">
                <a:solidFill>
                  <a:srgbClr val="1A1714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deterministic core keeps reuniting on snan days.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10761166" y="1695450"/>
            <a:ext cx="6612434" cy="921246"/>
          </a:xfrm>
          <a:prstGeom prst="roundRect">
            <a:avLst>
              <a:gd name="adj" fmla="val 10339"/>
            </a:avLst>
          </a:prstGeom>
          <a:solidFill>
            <a:srgbClr val="FFFFFF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61191" y="18764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B2031"/>
          </a:solidFill>
          <a:ln/>
        </p:spPr>
      </p:sp>
      <p:sp>
        <p:nvSpPr>
          <p:cNvPr id="18" name="Text 15"/>
          <p:cNvSpPr/>
          <p:nvPr/>
        </p:nvSpPr>
        <p:spPr>
          <a:xfrm>
            <a:off x="10923091" y="187642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1513641" y="1876425"/>
            <a:ext cx="51308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513641" y="2171700"/>
            <a:ext cx="5130864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75" dirty="0">
                <a:solidFill>
                  <a:srgbClr val="1A171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center, live — total, active, matched, reunited.</a:t>
            </a:r>
            <a:endParaRPr lang="en-US" sz="1575" dirty="0"/>
          </a:p>
        </p:txBody>
      </p:sp>
      <p:sp>
        <p:nvSpPr>
          <p:cNvPr id="21" name="Shape 18"/>
          <p:cNvSpPr/>
          <p:nvPr/>
        </p:nvSpPr>
        <p:spPr>
          <a:xfrm>
            <a:off x="10761166" y="2750046"/>
            <a:ext cx="6612434" cy="1185267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61191" y="2931021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A23A26"/>
          </a:solidFill>
          <a:ln/>
        </p:spPr>
      </p:sp>
      <p:sp>
        <p:nvSpPr>
          <p:cNvPr id="23" name="Text 20"/>
          <p:cNvSpPr/>
          <p:nvPr/>
        </p:nvSpPr>
        <p:spPr>
          <a:xfrm>
            <a:off x="10923091" y="2931021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11513641" y="2931021"/>
            <a:ext cx="6225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Search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513641" y="3226296"/>
            <a:ext cx="5829732" cy="56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75" dirty="0">
                <a:solidFill>
                  <a:srgbClr val="1A171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finder's photo, matched to open reports. No Aadhaar, no CCTV.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10761166" y="4068663"/>
            <a:ext cx="6612434" cy="1185267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61191" y="4249638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C2933A"/>
          </a:solidFill>
          <a:ln/>
        </p:spPr>
      </p:sp>
      <p:sp>
        <p:nvSpPr>
          <p:cNvPr id="28" name="Text 25"/>
          <p:cNvSpPr/>
          <p:nvPr/>
        </p:nvSpPr>
        <p:spPr>
          <a:xfrm>
            <a:off x="10923091" y="4249638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⊪</a:t>
            </a:r>
            <a:endParaRPr lang="en-US" sz="1575" dirty="0"/>
          </a:p>
        </p:txBody>
      </p:sp>
      <p:sp>
        <p:nvSpPr>
          <p:cNvPr id="29" name="Text 26"/>
          <p:cNvSpPr/>
          <p:nvPr/>
        </p:nvSpPr>
        <p:spPr>
          <a:xfrm>
            <a:off x="11513641" y="4249638"/>
            <a:ext cx="6225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Match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513641" y="4544913"/>
            <a:ext cx="5829732" cy="56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75" dirty="0">
                <a:solidFill>
                  <a:srgbClr val="1A171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in any language → a matchable record. For phoneless pilgrims.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10761166" y="5387280"/>
            <a:ext cx="6612434" cy="1185267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961191" y="556825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C3A20"/>
          </a:solidFill>
          <a:ln/>
        </p:spPr>
      </p:sp>
      <p:sp>
        <p:nvSpPr>
          <p:cNvPr id="33" name="Text 30"/>
          <p:cNvSpPr/>
          <p:nvPr/>
        </p:nvSpPr>
        <p:spPr>
          <a:xfrm>
            <a:off x="10923091" y="556825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◬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11513641" y="5568255"/>
            <a:ext cx="6225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513641" y="5863530"/>
            <a:ext cx="5829732" cy="56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75" dirty="0">
                <a:solidFill>
                  <a:srgbClr val="1A171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surges forecast from 2,500 real cases — pre-position staff.</a:t>
            </a:r>
            <a:endParaRPr lang="en-US" sz="1575" dirty="0"/>
          </a:p>
        </p:txBody>
      </p:sp>
      <p:sp>
        <p:nvSpPr>
          <p:cNvPr id="36" name="Shape 33"/>
          <p:cNvSpPr/>
          <p:nvPr/>
        </p:nvSpPr>
        <p:spPr>
          <a:xfrm>
            <a:off x="10761166" y="6705898"/>
            <a:ext cx="6612434" cy="1185267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961191" y="688687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7A2C1C"/>
          </a:solidFill>
          <a:ln/>
        </p:spPr>
      </p:sp>
      <p:sp>
        <p:nvSpPr>
          <p:cNvPr id="38" name="Text 35"/>
          <p:cNvSpPr/>
          <p:nvPr/>
        </p:nvSpPr>
        <p:spPr>
          <a:xfrm>
            <a:off x="10923091" y="688687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⤳</a:t>
            </a:r>
            <a:endParaRPr lang="en-US" sz="1575" dirty="0"/>
          </a:p>
        </p:txBody>
      </p:sp>
      <p:sp>
        <p:nvSpPr>
          <p:cNvPr id="39" name="Text 36"/>
          <p:cNvSpPr/>
          <p:nvPr/>
        </p:nvSpPr>
        <p:spPr>
          <a:xfrm>
            <a:off x="11513641" y="6886873"/>
            <a:ext cx="6225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1513641" y="7182148"/>
            <a:ext cx="5829732" cy="566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75" dirty="0">
                <a:solidFill>
                  <a:srgbClr val="1A1714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multilingual BOLO + priority zones, pushed to police posts &amp; LED boards.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5905500"/>
            <a:ext cx="6477000" cy="6477000"/>
          </a:xfrm>
          <a:prstGeom prst="ellipse">
            <a:avLst/>
          </a:prstGeom>
          <a:gradFill rotWithShape="1">
            <a:gsLst>
              <a:gs pos="0">
                <a:srgbClr val="A23A26">
                  <a:alpha val="26000"/>
                </a:srgbClr>
              </a:gs>
              <a:gs pos="64000">
                <a:srgbClr val="A23A2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112972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spc="-43" kern="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across sites, verify before handover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241881" y="904875"/>
            <a:ext cx="3618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gap nothing else closes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581150"/>
            <a:ext cx="8598247" cy="6629400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1985963"/>
            <a:ext cx="23582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MATCH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488138" y="2019300"/>
            <a:ext cx="10529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A1714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8541097" y="1866900"/>
            <a:ext cx="74295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2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2524125"/>
            <a:ext cx="3908524" cy="1574602"/>
          </a:xfrm>
          <a:prstGeom prst="roundRect">
            <a:avLst>
              <a:gd name="adj" fmla="val 6049"/>
            </a:avLst>
          </a:prstGeom>
          <a:solidFill>
            <a:srgbClr val="FAF6EE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0175" y="2705100"/>
            <a:ext cx="39012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A2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SEEKER · TRIMBAK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00175" y="3000375"/>
            <a:ext cx="39012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Kamala-bai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00175" y="3333750"/>
            <a:ext cx="3652971" cy="62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A171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71–80 · green saree, ear studs · Maithili last seen 14:20, Kushavarta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5299174" y="2524125"/>
            <a:ext cx="3908673" cy="1574602"/>
          </a:xfrm>
          <a:prstGeom prst="roundRect">
            <a:avLst>
              <a:gd name="adj" fmla="val 6049"/>
            </a:avLst>
          </a:prstGeom>
          <a:solidFill>
            <a:srgbClr val="FAF6EE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0149" y="2705100"/>
            <a:ext cx="39013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2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PERSON · NASHIK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0149" y="3000375"/>
            <a:ext cx="3901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elder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480149" y="3333750"/>
            <a:ext cx="3653125" cy="62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575" dirty="0">
                <a:solidFill>
                  <a:srgbClr val="1A171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71–80 · green saree, ear studs registered 15:50, Ramkund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219200" y="7091660"/>
            <a:ext cx="7988647" cy="85725"/>
          </a:xfrm>
          <a:prstGeom prst="roundRect">
            <a:avLst>
              <a:gd name="adj" fmla="val 50000"/>
            </a:avLst>
          </a:prstGeom>
          <a:solidFill>
            <a:srgbClr val="1A1714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9200" y="7091660"/>
            <a:ext cx="7269659" cy="85725"/>
          </a:xfrm>
          <a:prstGeom prst="roundRect">
            <a:avLst>
              <a:gd name="adj" fmla="val 50000"/>
            </a:avLst>
          </a:prstGeom>
          <a:solidFill>
            <a:srgbClr val="C293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7329785"/>
            <a:ext cx="8228307" cy="63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A1714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Attire + ear studs + Maithili + age band align; found ~90 min after last-seen — consistent with a shuttle transfer across the 30 km.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779347" y="1581150"/>
            <a:ext cx="7594253" cy="6629400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9050">
            <a:solidFill>
              <a:srgbClr val="A23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3197" y="1885950"/>
            <a:ext cx="76412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A2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HANDOVER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0103197" y="2305050"/>
            <a:ext cx="6946553" cy="1273373"/>
          </a:xfrm>
          <a:prstGeom prst="roundRect">
            <a:avLst>
              <a:gd name="adj" fmla="val 7480"/>
            </a:avLst>
          </a:prstGeom>
          <a:solidFill>
            <a:srgbClr val="FAF6EE"/>
          </a:solidFill>
          <a:ln w="9525">
            <a:solidFill>
              <a:srgbClr val="1A1714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4172" y="2486025"/>
            <a:ext cx="72430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A171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84172" y="2762250"/>
            <a:ext cx="6782141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to be the son ·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A2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name her companion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relation unconfirmed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103197" y="3749873"/>
            <a:ext cx="6946553" cy="704850"/>
          </a:xfrm>
          <a:prstGeom prst="roundRect">
            <a:avLst>
              <a:gd name="adj" fmla="val 13514"/>
            </a:avLst>
          </a:prstGeom>
          <a:solidFill>
            <a:srgbClr val="A23A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293697" y="3959423"/>
            <a:ext cx="3414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4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⦸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692259" y="3921323"/>
            <a:ext cx="27942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 blocked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103197" y="7310735"/>
            <a:ext cx="7154949" cy="63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A1714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child-handover SOP, enforced at scale — flagging what a volunteer at hour fourteen would miss. The operator alone confirms; never auto.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14400" y="8477250"/>
            <a:ext cx="16459200" cy="9525"/>
          </a:xfrm>
          <a:prstGeom prst="rect">
            <a:avLst/>
          </a:prstGeom>
          <a:solidFill>
            <a:srgbClr val="F4ECDD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8798719"/>
            <a:ext cx="961453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75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ct val="125000"/>
              </a:lnSpc>
              <a:buNone/>
            </a:pPr>
            <a:r>
              <a:rPr lang="en-US" sz="2475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hours-to-a-week </a:t>
            </a:r>
            <a:pPr algn="l" indent="0" marL="0">
              <a:lnSpc>
                <a:spcPct val="125000"/>
              </a:lnSpc>
              <a:buNone/>
            </a:pPr>
            <a:r>
              <a:rPr lang="en-US" sz="2475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algn="l" indent="0" marL="0">
              <a:lnSpc>
                <a:spcPct val="125000"/>
              </a:lnSpc>
              <a:buNone/>
            </a:pPr>
            <a:r>
              <a:rPr lang="en-US" sz="2475" dirty="0">
                <a:solidFill>
                  <a:srgbClr val="E0B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seconds across 30 km </a:t>
            </a:r>
            <a:pPr algn="l" indent="0" marL="0">
              <a:lnSpc>
                <a:spcPct val="125000"/>
              </a:lnSpc>
              <a:buNone/>
            </a:pPr>
            <a:r>
              <a:rPr lang="en-US" sz="2475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when the wrong person came to claim her, it said no.</a:t>
            </a:r>
            <a:endParaRPr lang="en-US" sz="2475" dirty="0"/>
          </a:p>
        </p:txBody>
      </p:sp>
      <p:sp>
        <p:nvSpPr>
          <p:cNvPr id="31" name="Text 29"/>
          <p:cNvSpPr/>
          <p:nvPr/>
        </p:nvSpPr>
        <p:spPr>
          <a:xfrm>
            <a:off x="12516460" y="8734425"/>
            <a:ext cx="4857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F4ECD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2516460" y="9029700"/>
            <a:ext cx="48571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it at one camp at Ramkund.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2516460" y="9429750"/>
            <a:ext cx="48571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4ECD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camp </a:t>
            </a:r>
            <a:pPr algn="r" indent="0" marL="0">
              <a:buNone/>
            </a:pPr>
            <a:r>
              <a:rPr lang="en-US" sz="1500" dirty="0">
                <a:solidFill>
                  <a:srgbClr val="E0B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r" indent="0" marL="0">
              <a:buNone/>
            </a:pPr>
            <a:r>
              <a:rPr lang="en-US" sz="1500" dirty="0">
                <a:solidFill>
                  <a:srgbClr val="F4ECD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sites </a:t>
            </a:r>
            <a:pPr algn="r" indent="0" marL="0">
              <a:buNone/>
            </a:pPr>
            <a:r>
              <a:rPr lang="en-US" sz="1500" dirty="0">
                <a:solidFill>
                  <a:srgbClr val="E0B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r" indent="0" marL="0">
              <a:buNone/>
            </a:pPr>
            <a:r>
              <a:rPr lang="en-US" sz="1500" dirty="0">
                <a:solidFill>
                  <a:srgbClr val="F4ECD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2026-06-27T10:11:37Z</dcterms:created>
  <dcterms:modified xsi:type="dcterms:W3CDTF">2026-06-27T10:11:37Z</dcterms:modified>
</cp:coreProperties>
</file>